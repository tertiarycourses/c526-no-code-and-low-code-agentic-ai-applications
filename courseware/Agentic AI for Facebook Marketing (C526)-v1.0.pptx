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Agentic AI for Facebook Marketing (C526)</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C526</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3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Course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Digital marketing and applied AI practitioner</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Facebook marketing, digital advertising, analytics, and applied AI workflows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role, and the Facebook Page or business context you support.</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One Facebook marketing task that currently takes too much time.</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One decision you would never allow an AI agent to make without approval.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Strategy, prompting, and Facebook content creation</a:t>
            </a:r>
          </a:p>
          <a:p>
            <a:pPr>
              <a:spcAft>
                <a:spcPts val="1000"/>
              </a:spcAft>
            </a:pPr>
            <a:r>
              <a:rPr sz="1400" b="0">
                <a:solidFill>
                  <a:srgbClr val="5B6372"/>
                </a:solidFill>
                <a:latin typeface="Arial"/>
              </a:rPr>
              <a:t>–  Topic 1: Getting Started with Agentic AI for Facebook Marketing (Labs 1–2)</a:t>
            </a:r>
          </a:p>
          <a:p>
            <a:pPr>
              <a:spcAft>
                <a:spcPts val="1000"/>
              </a:spcAft>
            </a:pPr>
            <a:r>
              <a:rPr sz="1400" b="0">
                <a:solidFill>
                  <a:srgbClr val="5B6372"/>
                </a:solidFill>
                <a:latin typeface="Arial"/>
              </a:rPr>
              <a:t>–  Topic 2: Content Creation and Ad Copy with AI (Labs 3–4)</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Campaign design, performance learning, automation, and scaling</a:t>
            </a:r>
          </a:p>
          <a:p>
            <a:pPr>
              <a:spcAft>
                <a:spcPts val="1000"/>
              </a:spcAft>
            </a:pPr>
            <a:r>
              <a:rPr sz="1400" b="0">
                <a:solidFill>
                  <a:srgbClr val="5B6372"/>
                </a:solidFill>
                <a:latin typeface="Arial"/>
              </a:rPr>
              <a:t>–  Topic 3: Building and Optimising Ad Campaigns with AI (Labs 5–6)</a:t>
            </a:r>
          </a:p>
          <a:p>
            <a:pPr>
              <a:spcAft>
                <a:spcPts val="1000"/>
              </a:spcAft>
            </a:pPr>
            <a:r>
              <a:rPr sz="1400" b="0">
                <a:solidFill>
                  <a:srgbClr val="5B6372"/>
                </a:solidFill>
                <a:latin typeface="Arial"/>
              </a:rPr>
              <a:t>–  Topic 4: Automating and Scaling Facebook Marketing with AI Agents (Labs 7–8)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9:00 am - 6:00 pm (1-hour lunch; two 15-minute tea breaks)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Marketing System</a:t>
            </a:r>
          </a:p>
          <a:p>
            <a:pPr algn="l">
              <a:spcAft>
                <a:spcPts val="300"/>
              </a:spcAft>
            </a:pPr>
            <a:r>
              <a:rPr sz="1300" b="0">
                <a:solidFill>
                  <a:srgbClr val="5B6372"/>
                </a:solidFill>
                <a:latin typeface="Arial"/>
              </a:rPr>
              <a:t>Explain how Facebook organic marketing, paid media, and an agentic AI workflow connect to a measurable business objective.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Contract</a:t>
            </a:r>
          </a:p>
          <a:p>
            <a:pPr algn="l">
              <a:spcAft>
                <a:spcPts val="300"/>
              </a:spcAft>
            </a:pPr>
            <a:r>
              <a:rPr sz="1300" b="0">
                <a:solidFill>
                  <a:srgbClr val="5B6372"/>
                </a:solidFill>
                <a:latin typeface="Arial"/>
              </a:rPr>
              <a:t>Create a reusable campaign brief and prompt contract that defines audience evidence, brand voice, tools, guardrails, and approval gates.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System</a:t>
            </a:r>
          </a:p>
          <a:p>
            <a:pPr algn="l">
              <a:spcAft>
                <a:spcPts val="300"/>
              </a:spcAft>
            </a:pPr>
            <a:r>
              <a:rPr sz="1300" b="0">
                <a:solidFill>
                  <a:srgbClr val="5B6372"/>
                </a:solidFill>
                <a:latin typeface="Arial"/>
              </a:rPr>
              <a:t>Produce an aligned Facebook content calendar, post set, ad-copy matrix, and creative briefs with consistent brand voice.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Campaign Design</a:t>
            </a:r>
          </a:p>
          <a:p>
            <a:pPr algn="l">
              <a:spcAft>
                <a:spcPts val="300"/>
              </a:spcAft>
            </a:pPr>
            <a:r>
              <a:rPr sz="1300" b="0">
                <a:solidFill>
                  <a:srgbClr val="5B6372"/>
                </a:solidFill>
                <a:latin typeface="Arial"/>
              </a:rPr>
              <a:t>Design a Facebook campaign blueprint across campaign, ad set, and ad levels, including audience, budget, placement, and experiment choices.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Performance Learning</a:t>
            </a:r>
          </a:p>
          <a:p>
            <a:pPr algn="l">
              <a:spcAft>
                <a:spcPts val="300"/>
              </a:spcAft>
            </a:pPr>
            <a:r>
              <a:rPr sz="1300" b="0">
                <a:solidFill>
                  <a:srgbClr val="5B6372"/>
                </a:solidFill>
                <a:latin typeface="Arial"/>
              </a:rPr>
              <a:t>Calculate and interpret Facebook performance metrics, diagnose a result, and recommend a controlled next action from evidence.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Governed Automation</a:t>
            </a:r>
          </a:p>
          <a:p>
            <a:pPr algn="l">
              <a:spcAft>
                <a:spcPts val="300"/>
              </a:spcAft>
            </a:pPr>
            <a:r>
              <a:rPr sz="1300" b="0">
                <a:solidFill>
                  <a:srgbClr val="5B6372"/>
                </a:solidFill>
                <a:latin typeface="Arial"/>
              </a:rPr>
              <a:t>Design a governed agentic workflow for scheduling, responses, reporting, optimisation, and scaling with privacy and advertising safeguards.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Facebook Marketing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Five Decisions Every Workflow Must Preserve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Why</a:t>
            </a:r>
          </a:p>
          <a:p>
            <a:pPr algn="l">
              <a:spcAft>
                <a:spcPts val="300"/>
              </a:spcAft>
            </a:pPr>
            <a:r>
              <a:rPr sz="1300" b="0">
                <a:solidFill>
                  <a:srgbClr val="5B6372"/>
                </a:solidFill>
                <a:latin typeface="Arial"/>
              </a:rPr>
              <a:t>Which business result and customer action matter?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Who</a:t>
            </a:r>
          </a:p>
          <a:p>
            <a:pPr algn="l">
              <a:spcAft>
                <a:spcPts val="300"/>
              </a:spcAft>
            </a:pPr>
            <a:r>
              <a:rPr sz="1300" b="0">
                <a:solidFill>
                  <a:srgbClr val="5B6372"/>
                </a:solidFill>
                <a:latin typeface="Arial"/>
              </a:rPr>
              <a:t>Which evidence-backed audience need are we serving?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What</a:t>
            </a:r>
          </a:p>
          <a:p>
            <a:pPr algn="l">
              <a:spcAft>
                <a:spcPts val="300"/>
              </a:spcAft>
            </a:pPr>
            <a:r>
              <a:rPr sz="1300" b="0">
                <a:solidFill>
                  <a:srgbClr val="5B6372"/>
                </a:solidFill>
                <a:latin typeface="Arial"/>
              </a:rPr>
              <a:t>Which promise, proof, offer, and creative communicate value?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Where</a:t>
            </a:r>
          </a:p>
          <a:p>
            <a:pPr algn="l">
              <a:spcAft>
                <a:spcPts val="300"/>
              </a:spcAft>
            </a:pPr>
            <a:r>
              <a:rPr sz="1300" b="0">
                <a:solidFill>
                  <a:srgbClr val="5B6372"/>
                </a:solidFill>
                <a:latin typeface="Arial"/>
              </a:rPr>
              <a:t>Should the message use organic, paid, or community delivery?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Next</a:t>
            </a:r>
          </a:p>
          <a:p>
            <a:pPr algn="l">
              <a:spcAft>
                <a:spcPts val="300"/>
              </a:spcAft>
            </a:pPr>
            <a:r>
              <a:rPr sz="1300" b="0">
                <a:solidFill>
                  <a:srgbClr val="5B6372"/>
                </a:solidFill>
                <a:latin typeface="Arial"/>
              </a:rPr>
              <a:t>Which metric and rule determine the next controlled action?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G-C-A-T-E Agent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Business result, customer action, KPI, time horizon, and finish condition.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Brand, offer, audience evidence, channel role, and authorised inputs.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Actions</a:t>
            </a:r>
          </a:p>
          <a:p>
            <a:pPr algn="l">
              <a:spcAft>
                <a:spcPts val="300"/>
              </a:spcAft>
            </a:pPr>
            <a:r>
              <a:rPr sz="1200" b="0">
                <a:solidFill>
                  <a:srgbClr val="5B6372"/>
                </a:solidFill>
                <a:latin typeface="Arial"/>
              </a:rPr>
              <a:t>Ordered steps and tools the workflow may use.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Tests</a:t>
            </a:r>
          </a:p>
          <a:p>
            <a:pPr algn="l">
              <a:spcAft>
                <a:spcPts val="300"/>
              </a:spcAft>
            </a:pPr>
            <a:r>
              <a:rPr sz="1200" b="0">
                <a:solidFill>
                  <a:srgbClr val="5B6372"/>
                </a:solidFill>
                <a:latin typeface="Arial"/>
              </a:rPr>
              <a:t>Factual, brand, privacy, advertising, and performance checks.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Escalation</a:t>
            </a:r>
          </a:p>
          <a:p>
            <a:pPr algn="l">
              <a:spcAft>
                <a:spcPts val="300"/>
              </a:spcAft>
            </a:pPr>
            <a:r>
              <a:rPr sz="1200" b="0">
                <a:solidFill>
                  <a:srgbClr val="5B6372"/>
                </a:solidFill>
                <a:latin typeface="Arial"/>
              </a:rPr>
              <a:t>Approval gates, stop conditions, owner, and recovery path.</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Let AI accelerate the loop; keep people accountable for the outcome.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Drafting and analysis can move quickly only when goals, evidence, permissions, and approval gates are explicit.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Campaign Operations Pack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Strategy Pack</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Success brief</a:t>
            </a:r>
          </a:p>
          <a:p>
            <a:pPr>
              <a:spcAft>
                <a:spcPts val="900"/>
              </a:spcAft>
            </a:pPr>
            <a:r>
              <a:rPr sz="1400" b="0">
                <a:solidFill>
                  <a:srgbClr val="161B26"/>
                </a:solidFill>
                <a:latin typeface="Arial"/>
              </a:rPr>
              <a:t>•  Audience evidence map</a:t>
            </a:r>
          </a:p>
          <a:p>
            <a:pPr>
              <a:spcAft>
                <a:spcPts val="900"/>
              </a:spcAft>
            </a:pPr>
            <a:r>
              <a:rPr sz="1400" b="0">
                <a:solidFill>
                  <a:srgbClr val="161B26"/>
                </a:solidFill>
                <a:latin typeface="Arial"/>
              </a:rPr>
              <a:t>•  Prompt contract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Creative Pack</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Content calendar</a:t>
            </a:r>
          </a:p>
          <a:p>
            <a:pPr>
              <a:spcAft>
                <a:spcPts val="900"/>
              </a:spcAft>
            </a:pPr>
            <a:r>
              <a:rPr sz="1400" b="0">
                <a:solidFill>
                  <a:srgbClr val="161B26"/>
                </a:solidFill>
                <a:latin typeface="Arial"/>
              </a:rPr>
              <a:t>•  Post set</a:t>
            </a:r>
          </a:p>
          <a:p>
            <a:pPr>
              <a:spcAft>
                <a:spcPts val="900"/>
              </a:spcAft>
            </a:pPr>
            <a:r>
              <a:rPr sz="1400" b="0">
                <a:solidFill>
                  <a:srgbClr val="161B26"/>
                </a:solidFill>
                <a:latin typeface="Arial"/>
              </a:rPr>
              <a:t>•  Copy and creative matrix</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Growth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Campaign blueprint</a:t>
            </a:r>
          </a:p>
          <a:p>
            <a:pPr>
              <a:spcAft>
                <a:spcPts val="900"/>
              </a:spcAft>
            </a:pPr>
            <a:r>
              <a:rPr sz="1400" b="0">
                <a:solidFill>
                  <a:srgbClr val="161B26"/>
                </a:solidFill>
                <a:latin typeface="Arial"/>
              </a:rPr>
              <a:t>•  Performance diagnosis</a:t>
            </a:r>
          </a:p>
          <a:p>
            <a:pPr>
              <a:spcAft>
                <a:spcPts val="900"/>
              </a:spcAft>
            </a:pPr>
            <a:r>
              <a:rPr sz="1400" b="0">
                <a:solidFill>
                  <a:srgbClr val="161B26"/>
                </a:solidFill>
                <a:latin typeface="Arial"/>
              </a:rPr>
              <a:t>•  Automation and scale policy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Start from the shared Harbour &amp; Hearth brand brief and the previous lab checkpoint.</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Use AI to propose structured work from authorised inputs, not to invent business facts.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a human quality gate and record corrections in the campaign operations pack.</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observable evidence before carrying the artifact into the next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Agentic AI for Facebook Marketing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Facebook ecosystem | objectives and audiences | agent anatomy | prompting | approval gates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Agentic AI for Facebook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Outcome before output</a:t>
            </a:r>
          </a:p>
          <a:p>
            <a:pPr algn="l">
              <a:spcAft>
                <a:spcPts val="300"/>
              </a:spcAft>
            </a:pPr>
            <a:r>
              <a:rPr sz="1200" b="0">
                <a:solidFill>
                  <a:srgbClr val="5B6372"/>
                </a:solidFill>
                <a:latin typeface="Arial"/>
              </a:rPr>
              <a:t>Start with a business result and customer action, not a request to 'make posts'.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Organic and paid roles</a:t>
            </a:r>
          </a:p>
          <a:p>
            <a:pPr algn="l">
              <a:spcAft>
                <a:spcPts val="300"/>
              </a:spcAft>
            </a:pPr>
            <a:r>
              <a:rPr sz="1200" b="0">
                <a:solidFill>
                  <a:srgbClr val="5B6372"/>
                </a:solidFill>
                <a:latin typeface="Arial"/>
              </a:rPr>
              <a:t>Organic content builds attention and proof; paid delivery buys controlled reach and learning.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Agentic loop</a:t>
            </a:r>
          </a:p>
          <a:p>
            <a:pPr algn="l">
              <a:spcAft>
                <a:spcPts val="300"/>
              </a:spcAft>
            </a:pPr>
            <a:r>
              <a:rPr sz="1200" b="0">
                <a:solidFill>
                  <a:srgbClr val="5B6372"/>
                </a:solidFill>
                <a:latin typeface="Arial"/>
              </a:rPr>
              <a:t>An agent plans, uses tools, checks evidence, and iterates until a stop condition is reached.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boundary</a:t>
            </a:r>
          </a:p>
          <a:p>
            <a:pPr algn="l">
              <a:spcAft>
                <a:spcPts val="300"/>
              </a:spcAft>
            </a:pPr>
            <a:r>
              <a:rPr sz="1200" b="0">
                <a:solidFill>
                  <a:srgbClr val="5B6372"/>
                </a:solidFill>
                <a:latin typeface="Arial"/>
              </a:rPr>
              <a:t>Facts, customer data, and performance numbers need provenance; unknowns remain labelled assumptions.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Prompt contract</a:t>
            </a:r>
          </a:p>
          <a:p>
            <a:pPr algn="l">
              <a:spcAft>
                <a:spcPts val="300"/>
              </a:spcAft>
            </a:pPr>
            <a:r>
              <a:rPr sz="1200" b="0">
                <a:solidFill>
                  <a:srgbClr val="5B6372"/>
                </a:solidFill>
                <a:latin typeface="Arial"/>
              </a:rPr>
              <a:t>Role, goal, context, inputs, rules, output schema, and review criteria make work repeatable.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Audience hypothesis</a:t>
            </a:r>
          </a:p>
          <a:p>
            <a:pPr algn="l">
              <a:spcAft>
                <a:spcPts val="300"/>
              </a:spcAft>
            </a:pPr>
            <a:r>
              <a:rPr sz="1200" b="0">
                <a:solidFill>
                  <a:srgbClr val="5B6372"/>
                </a:solidFill>
                <a:latin typeface="Arial"/>
              </a:rPr>
              <a:t>A segment is a testable need and behaviour pattern, not a stereotype or invented demographic.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Agentic AI for Facebook Marketing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authority</a:t>
            </a:r>
          </a:p>
          <a:p>
            <a:pPr algn="l">
              <a:spcAft>
                <a:spcPts val="300"/>
              </a:spcAft>
            </a:pPr>
            <a:r>
              <a:rPr sz="1200" b="0">
                <a:solidFill>
                  <a:srgbClr val="5B6372"/>
                </a:solidFill>
                <a:latin typeface="Arial"/>
              </a:rPr>
              <a:t>Publishing, spend, targeting changes, and sensitive replies remain approval-controlled actions.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Audit trail</a:t>
            </a:r>
          </a:p>
          <a:p>
            <a:pPr algn="l">
              <a:spcAft>
                <a:spcPts val="300"/>
              </a:spcAft>
            </a:pPr>
            <a:r>
              <a:rPr sz="1200" b="0">
                <a:solidFill>
                  <a:srgbClr val="5B6372"/>
                </a:solidFill>
                <a:latin typeface="Arial"/>
              </a:rPr>
              <a:t>Save the brief, inputs, versions, approvals, and final decision so the workflow can be reviewed.</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SYSTEM 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Facebook Marketing as a Connected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Business objective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Audience need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Useful content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Organic or paid delivery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Measured customer action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WHAT MAKES IT AGENTIC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From Generative AI to an Agentic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Single AI task</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Agentic workflow</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One prompt produces one draft</a:t>
            </a:r>
          </a:p>
          <a:p>
            <a:pPr>
              <a:spcAft>
                <a:spcPts val="1000"/>
              </a:spcAft>
            </a:pPr>
            <a:r>
              <a:rPr sz="1600" b="0">
                <a:solidFill>
                  <a:srgbClr val="161B26"/>
                </a:solidFill>
                <a:latin typeface="Arial"/>
              </a:rPr>
              <a:t>•  The user manually supplies every input</a:t>
            </a:r>
          </a:p>
          <a:p>
            <a:pPr>
              <a:spcAft>
                <a:spcPts val="1000"/>
              </a:spcAft>
            </a:pPr>
            <a:r>
              <a:rPr sz="1600" b="0">
                <a:solidFill>
                  <a:srgbClr val="161B26"/>
                </a:solidFill>
                <a:latin typeface="Arial"/>
              </a:rPr>
              <a:t>•  No persistent state or explicit stop rule</a:t>
            </a:r>
          </a:p>
          <a:p>
            <a:pPr>
              <a:spcAft>
                <a:spcPts val="1000"/>
              </a:spcAft>
            </a:pPr>
            <a:r>
              <a:rPr sz="1600" b="0">
                <a:solidFill>
                  <a:srgbClr val="161B26"/>
                </a:solidFill>
                <a:latin typeface="Arial"/>
              </a:rPr>
              <a:t>•  Quality depends on one response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 goal is decomposed into multiple steps</a:t>
            </a:r>
          </a:p>
          <a:p>
            <a:pPr>
              <a:spcAft>
                <a:spcPts val="1000"/>
              </a:spcAft>
            </a:pPr>
            <a:r>
              <a:rPr sz="1600" b="0">
                <a:solidFill>
                  <a:srgbClr val="161B26"/>
                </a:solidFill>
                <a:latin typeface="Arial"/>
              </a:rPr>
              <a:t>•  Tools retrieve data or create controlled outputs</a:t>
            </a:r>
          </a:p>
          <a:p>
            <a:pPr>
              <a:spcAft>
                <a:spcPts val="1000"/>
              </a:spcAft>
            </a:pPr>
            <a:r>
              <a:rPr sz="1600" b="0">
                <a:solidFill>
                  <a:srgbClr val="161B26"/>
                </a:solidFill>
                <a:latin typeface="Arial"/>
              </a:rPr>
              <a:t>•  State, checks, retries, and stop conditions are explicit</a:t>
            </a:r>
          </a:p>
          <a:p>
            <a:pPr>
              <a:spcAft>
                <a:spcPts val="1000"/>
              </a:spcAft>
            </a:pPr>
            <a:r>
              <a:rPr sz="1600" b="0">
                <a:solidFill>
                  <a:srgbClr val="161B26"/>
                </a:solidFill>
                <a:latin typeface="Arial"/>
              </a:rPr>
              <a:t>•  A person approves high-impact actions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AGENT ANATOMY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Six-Part Marketing Agent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The result, customer action, time horizon, and success threshold.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Brand, offer, audience evidence, channel role, and constraints.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Instructions</a:t>
            </a:r>
          </a:p>
          <a:p>
            <a:pPr algn="l">
              <a:spcAft>
                <a:spcPts val="300"/>
              </a:spcAft>
            </a:pPr>
            <a:r>
              <a:rPr sz="1200" b="0">
                <a:solidFill>
                  <a:srgbClr val="5B6372"/>
                </a:solidFill>
                <a:latin typeface="Arial"/>
              </a:rPr>
              <a:t>Decision rules, required steps, output format, and escalation logic.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Tools</a:t>
            </a:r>
          </a:p>
          <a:p>
            <a:pPr algn="l">
              <a:spcAft>
                <a:spcPts val="300"/>
              </a:spcAft>
            </a:pPr>
            <a:r>
              <a:rPr sz="1200" b="0">
                <a:solidFill>
                  <a:srgbClr val="5B6372"/>
                </a:solidFill>
                <a:latin typeface="Arial"/>
              </a:rPr>
              <a:t>Approved data sources, content tools, calendars, and reporting surfaces.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Briefs, past variants, decisions, and lessons that should persist.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Checks</a:t>
            </a:r>
          </a:p>
          <a:p>
            <a:pPr algn="l">
              <a:spcAft>
                <a:spcPts val="300"/>
              </a:spcAft>
            </a:pPr>
            <a:r>
              <a:rPr sz="1200" b="0">
                <a:solidFill>
                  <a:srgbClr val="5B6372"/>
                </a:solidFill>
                <a:latin typeface="Arial"/>
              </a:rPr>
              <a:t>Brand, factual, privacy, policy, and performance validation before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MEASUREMENT LOGIC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Objective, Customer Action, and KPI Chain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Business result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Marketing objective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Customer action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Primary KPI</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Guardrail metric</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AUDIENCE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Audience Evidence Before Targeting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Observed</a:t>
            </a:r>
          </a:p>
          <a:p>
            <a:pPr algn="l">
              <a:spcAft>
                <a:spcPts val="300"/>
              </a:spcAft>
            </a:pPr>
            <a:r>
              <a:rPr sz="1200" b="0">
                <a:solidFill>
                  <a:srgbClr val="5B6372"/>
                </a:solidFill>
                <a:latin typeface="Arial"/>
              </a:rPr>
              <a:t>Existing customer questions, purchases, site behaviour, and Page interactions.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Declared</a:t>
            </a:r>
          </a:p>
          <a:p>
            <a:pPr algn="l">
              <a:spcAft>
                <a:spcPts val="300"/>
              </a:spcAft>
            </a:pPr>
            <a:r>
              <a:rPr sz="1200" b="0">
                <a:solidFill>
                  <a:srgbClr val="5B6372"/>
                </a:solidFill>
                <a:latin typeface="Arial"/>
              </a:rPr>
              <a:t>Needs and preferences people voluntarily shared through interviews or forms.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Inferred</a:t>
            </a:r>
          </a:p>
          <a:p>
            <a:pPr algn="l">
              <a:spcAft>
                <a:spcPts val="300"/>
              </a:spcAft>
            </a:pPr>
            <a:r>
              <a:rPr sz="1200" b="0">
                <a:solidFill>
                  <a:srgbClr val="5B6372"/>
                </a:solidFill>
                <a:latin typeface="Arial"/>
              </a:rPr>
              <a:t>A labelled hypothesis derived from patterns, never presented as fact.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Excluded</a:t>
            </a:r>
          </a:p>
          <a:p>
            <a:pPr algn="l">
              <a:spcAft>
                <a:spcPts val="300"/>
              </a:spcAft>
            </a:pPr>
            <a:r>
              <a:rPr sz="1200" b="0">
                <a:solidFill>
                  <a:srgbClr val="5B6372"/>
                </a:solidFill>
                <a:latin typeface="Arial"/>
              </a:rPr>
              <a:t>Sensitive traits, unjustified personal data, and segments the offer should not reach.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Testable</a:t>
            </a:r>
          </a:p>
          <a:p>
            <a:pPr algn="l">
              <a:spcAft>
                <a:spcPts val="300"/>
              </a:spcAft>
            </a:pPr>
            <a:r>
              <a:rPr sz="1200" b="0">
                <a:solidFill>
                  <a:srgbClr val="5B6372"/>
                </a:solidFill>
                <a:latin typeface="Arial"/>
              </a:rPr>
              <a:t>A need, trigger, barrier, message angle, and measurable response.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Revisable</a:t>
            </a:r>
          </a:p>
          <a:p>
            <a:pPr algn="l">
              <a:spcAft>
                <a:spcPts val="300"/>
              </a:spcAft>
            </a:pPr>
            <a:r>
              <a:rPr sz="1200" b="0">
                <a:solidFill>
                  <a:srgbClr val="5B6372"/>
                </a:solidFill>
                <a:latin typeface="Arial"/>
              </a:rPr>
              <a:t>A segment changes when evidence contradicts the original hypothesis.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REUSABLE INSTRUCTIONS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Role and goal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Grounded inputs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Decision rules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Output schema</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Review and escalation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Agentic AI for Facebook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Facebook Campaign Success Brief</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Audience Evidence Map and Prompt Contract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Facebook Campaign Success Brief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begin the connected Harbour &amp; Hearth scenario by turning an approved brand brief into a concise success brief of no more than 600 words. The lab establishes the objective, customer action, evidence, limits, and decision metrics that every later content, campaign, and automation artifact must follow.</a:t>
            </a:r>
          </a:p>
        </p:txBody>
      </p:sp>
      <p:sp>
        <p:nvSpPr>
          <p:cNvPr id="10" name="Rectangle 9"/>
          <p:cNvSpPr/>
          <p:nvPr/>
        </p:nvSpPr>
        <p:spPr>
          <a:xfrm>
            <a:off x="777240" y="3886200"/>
            <a:ext cx="10698480"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507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370832"/>
            <a:ext cx="10058400" cy="822960"/>
          </a:xfrm>
          <a:prstGeom prst="rect">
            <a:avLst/>
          </a:prstGeom>
          <a:noFill/>
        </p:spPr>
        <p:txBody>
          <a:bodyPr wrap="square" anchor="t">
            <a:spAutoFit/>
          </a:bodyPr>
          <a:lstStyle/>
          <a:p>
            <a:pPr algn="l">
              <a:spcAft>
                <a:spcPts val="400"/>
              </a:spcAft>
            </a:pPr>
            <a:r>
              <a:rPr sz="1200" b="1">
                <a:solidFill>
                  <a:srgbClr val="161B26"/>
                </a:solidFill>
                <a:latin typeface="Arial"/>
              </a:rPr>
              <a:t>C526-campaign-pack/01-success-brief.md of no more than 600 words containing the campaign decision chain, approved facts, KPI definitions, guardrails, stop conditions, and retained Test Evidence.</a:t>
            </a:r>
          </a:p>
        </p:txBody>
      </p:sp>
      <p:sp>
        <p:nvSpPr>
          <p:cNvPr id="13" name="TextBox 12"/>
          <p:cNvSpPr txBox="1"/>
          <p:nvPr/>
        </p:nvSpPr>
        <p:spPr>
          <a:xfrm>
            <a:off x="1005840" y="5230368"/>
            <a:ext cx="10241280" cy="6858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Web browser, approved generative AI assistant, text editor, labs/resources/harbour-hearth-brand-brief.md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1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Extract approved facts and explicit unknowns from the brand brief.</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Build the business-result → objective → customer-action → KPI chain.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guardrails, approval gates, and stop conditions.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Save the reviewed brief, capped at 600 words, as the source for every later lab.</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the action, KPI, two guards, three stops, and sources.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the Audience Evidence Map and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convert synthetic audience signals into three testable audience hypotheses, select one primary segment, and write the G-C-A-T-E prompt contract that governs later AI work. The contract teaches the agent to separate evidence from assumptions and to stop at high-impact actions.</a:t>
            </a:r>
          </a:p>
        </p:txBody>
      </p:sp>
      <p:sp>
        <p:nvSpPr>
          <p:cNvPr id="10" name="Rectangle 9"/>
          <p:cNvSpPr/>
          <p:nvPr/>
        </p:nvSpPr>
        <p:spPr>
          <a:xfrm>
            <a:off x="777240" y="3886200"/>
            <a:ext cx="10698480"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507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370832"/>
            <a:ext cx="10058400" cy="822960"/>
          </a:xfrm>
          <a:prstGeom prst="rect">
            <a:avLst/>
          </a:prstGeom>
          <a:noFill/>
        </p:spPr>
        <p:txBody>
          <a:bodyPr wrap="square" anchor="t">
            <a:spAutoFit/>
          </a:bodyPr>
          <a:lstStyle/>
          <a:p>
            <a:pPr algn="l">
              <a:spcAft>
                <a:spcPts val="400"/>
              </a:spcAft>
            </a:pPr>
            <a:r>
              <a:rPr sz="1400" b="1">
                <a:solidFill>
                  <a:srgbClr val="161B26"/>
                </a:solidFill>
                <a:latin typeface="Arial"/>
              </a:rPr>
              <a:t>C526-campaign-pack/02-audience-and-prompt-contract.md containing an evidence map, three audience hypotheses, a selected segment, and a tested G-C-A-T-E prompt contract.</a:t>
            </a:r>
          </a:p>
        </p:txBody>
      </p:sp>
      <p:sp>
        <p:nvSpPr>
          <p:cNvPr id="13" name="TextBox 12"/>
          <p:cNvSpPr txBox="1"/>
          <p:nvPr/>
        </p:nvSpPr>
        <p:spPr>
          <a:xfrm>
            <a:off x="1005840" y="5230368"/>
            <a:ext cx="10241280" cy="6858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generative AI assistant, text editor, spreadsheet viewer, labs/resources/harbour-hearth-audience-signals.csv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2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Classify each signal as observed, declared, inferred, or unknown.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Turn evidence into three testable need-based audience hypotheses.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G-C-A-T-E instructions and output schema.</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a deliberate missing-input test and correct unsafe guessing.</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Missing offer data stays UNKNOWN and stops the workflow.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Getting Started with Agentic AI for Facebook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LO1: Connect a Facebook marketing workflow to a measurable business objective, customer action, KPI, and guardrails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Define evidence-backed audience hypotheses and reusable agent instructions with explicit output, review, and escalation rules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Content Creation and Ad Copy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content pillars | message hierarchy | post and ad copy | creative briefs | brand consistency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Content Creation and Ad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 message hierarchy</a:t>
            </a:r>
          </a:p>
          <a:p>
            <a:pPr algn="l">
              <a:spcAft>
                <a:spcPts val="300"/>
              </a:spcAft>
            </a:pPr>
            <a:r>
              <a:rPr sz="1200" b="0">
                <a:solidFill>
                  <a:srgbClr val="5B6372"/>
                </a:solidFill>
                <a:latin typeface="Arial"/>
              </a:rPr>
              <a:t>Audience tension, promise, proof, offer, and action align every content format.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 pillars</a:t>
            </a:r>
          </a:p>
          <a:p>
            <a:pPr algn="l">
              <a:spcAft>
                <a:spcPts val="300"/>
              </a:spcAft>
            </a:pPr>
            <a:r>
              <a:rPr sz="1200" b="0">
                <a:solidFill>
                  <a:srgbClr val="5B6372"/>
                </a:solidFill>
                <a:latin typeface="Arial"/>
              </a:rPr>
              <a:t>Repeatable themes create variety without losing strategic focus.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Hook with relevance</a:t>
            </a:r>
          </a:p>
          <a:p>
            <a:pPr algn="l">
              <a:spcAft>
                <a:spcPts val="300"/>
              </a:spcAft>
            </a:pPr>
            <a:r>
              <a:rPr sz="1200" b="0">
                <a:solidFill>
                  <a:srgbClr val="5B6372"/>
                </a:solidFill>
                <a:latin typeface="Arial"/>
              </a:rPr>
              <a:t>Earn attention by naming a useful tension, not by exaggerating or withholding truth.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Proof before pressure</a:t>
            </a:r>
          </a:p>
          <a:p>
            <a:pPr algn="l">
              <a:spcAft>
                <a:spcPts val="300"/>
              </a:spcAft>
            </a:pPr>
            <a:r>
              <a:rPr sz="1200" b="0">
                <a:solidFill>
                  <a:srgbClr val="5B6372"/>
                </a:solidFill>
                <a:latin typeface="Arial"/>
              </a:rPr>
              <a:t>Specific evidence reduces uncertainty more effectively than louder claims.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Format follows job</a:t>
            </a:r>
          </a:p>
          <a:p>
            <a:pPr algn="l">
              <a:spcAft>
                <a:spcPts val="300"/>
              </a:spcAft>
            </a:pPr>
            <a:r>
              <a:rPr sz="1200" b="0">
                <a:solidFill>
                  <a:srgbClr val="5B6372"/>
                </a:solidFill>
                <a:latin typeface="Arial"/>
              </a:rPr>
              <a:t>Image, carousel, and video choices should match the message and stage of awareness.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Brand voice rules</a:t>
            </a:r>
          </a:p>
          <a:p>
            <a:pPr algn="l">
              <a:spcAft>
                <a:spcPts val="300"/>
              </a:spcAft>
            </a:pPr>
            <a:r>
              <a:rPr sz="1200" b="0">
                <a:solidFill>
                  <a:srgbClr val="5B6372"/>
                </a:solidFill>
                <a:latin typeface="Arial"/>
              </a:rPr>
              <a:t>Observable language patterns are easier for AI to follow than vague adjectives.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Content Creation and Ad Copy with 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Variant discipline</a:t>
            </a:r>
          </a:p>
          <a:p>
            <a:pPr algn="l">
              <a:spcAft>
                <a:spcPts val="300"/>
              </a:spcAft>
            </a:pPr>
            <a:r>
              <a:rPr sz="1200" b="0">
                <a:solidFill>
                  <a:srgbClr val="5B6372"/>
                </a:solidFill>
                <a:latin typeface="Arial"/>
              </a:rPr>
              <a:t>Change one meaningful variable at a time so later performance can teach you something.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Human creative review</a:t>
            </a:r>
          </a:p>
          <a:p>
            <a:pPr algn="l">
              <a:spcAft>
                <a:spcPts val="300"/>
              </a:spcAft>
            </a:pPr>
            <a:r>
              <a:rPr sz="1200" b="0">
                <a:solidFill>
                  <a:srgbClr val="5B6372"/>
                </a:solidFill>
                <a:latin typeface="Arial"/>
              </a:rPr>
              <a:t>Check accuracy, rights, representation, readability, and platform fit before use.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MESSAGE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Facebook Message Hierarchy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Audience tension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Relevant promise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Reason to believe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Offer or next step</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Clear action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EDITORIAL SYSTEM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Content Pillars and the Customer Journey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Teach</a:t>
            </a:r>
          </a:p>
          <a:p>
            <a:pPr algn="l">
              <a:spcAft>
                <a:spcPts val="300"/>
              </a:spcAft>
            </a:pPr>
            <a:r>
              <a:rPr sz="1200" b="0">
                <a:solidFill>
                  <a:srgbClr val="5B6372"/>
                </a:solidFill>
                <a:latin typeface="Arial"/>
              </a:rPr>
              <a:t>Answer a useful question and build problem awareness.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Show</a:t>
            </a:r>
          </a:p>
          <a:p>
            <a:pPr algn="l">
              <a:spcAft>
                <a:spcPts val="300"/>
              </a:spcAft>
            </a:pPr>
            <a:r>
              <a:rPr sz="1200" b="0">
                <a:solidFill>
                  <a:srgbClr val="5B6372"/>
                </a:solidFill>
                <a:latin typeface="Arial"/>
              </a:rPr>
              <a:t>Demonstrate the product, process, or customer experience.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Prove</a:t>
            </a:r>
          </a:p>
          <a:p>
            <a:pPr algn="l">
              <a:spcAft>
                <a:spcPts val="300"/>
              </a:spcAft>
            </a:pPr>
            <a:r>
              <a:rPr sz="1200" b="0">
                <a:solidFill>
                  <a:srgbClr val="5B6372"/>
                </a:solidFill>
                <a:latin typeface="Arial"/>
              </a:rPr>
              <a:t>Use evidence, reviews, comparisons, or behind-the-scenes detail.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Invite</a:t>
            </a:r>
          </a:p>
          <a:p>
            <a:pPr algn="l">
              <a:spcAft>
                <a:spcPts val="300"/>
              </a:spcAft>
            </a:pPr>
            <a:r>
              <a:rPr sz="1200" b="0">
                <a:solidFill>
                  <a:srgbClr val="5B6372"/>
                </a:solidFill>
                <a:latin typeface="Arial"/>
              </a:rPr>
              <a:t>Present an offer and make the next action unmistakable.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Engage</a:t>
            </a:r>
          </a:p>
          <a:p>
            <a:pPr algn="l">
              <a:spcAft>
                <a:spcPts val="300"/>
              </a:spcAft>
            </a:pPr>
            <a:r>
              <a:rPr sz="1200" b="0">
                <a:solidFill>
                  <a:srgbClr val="5B6372"/>
                </a:solidFill>
                <a:latin typeface="Arial"/>
              </a:rPr>
              <a:t>Ask a meaningful question or respond to community signals.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Learn</a:t>
            </a:r>
          </a:p>
          <a:p>
            <a:pPr algn="l">
              <a:spcAft>
                <a:spcPts val="300"/>
              </a:spcAft>
            </a:pPr>
            <a:r>
              <a:rPr sz="1200" b="0">
                <a:solidFill>
                  <a:srgbClr val="5B6372"/>
                </a:solidFill>
                <a:latin typeface="Arial"/>
              </a:rPr>
              <a:t>Use performance and comments to refine the next content cycle.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CONSISTENCY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Brand Voice as Observable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Weak instruction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Operational rule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Sound friendly and premium</a:t>
            </a:r>
          </a:p>
          <a:p>
            <a:pPr>
              <a:spcAft>
                <a:spcPts val="1000"/>
              </a:spcAft>
            </a:pPr>
            <a:r>
              <a:rPr sz="1600" b="0">
                <a:solidFill>
                  <a:srgbClr val="161B26"/>
                </a:solidFill>
                <a:latin typeface="Arial"/>
              </a:rPr>
              <a:t>•  Make it engaging</a:t>
            </a:r>
          </a:p>
          <a:p>
            <a:pPr>
              <a:spcAft>
                <a:spcPts val="1000"/>
              </a:spcAft>
            </a:pPr>
            <a:r>
              <a:rPr sz="1600" b="0">
                <a:solidFill>
                  <a:srgbClr val="161B26"/>
                </a:solidFill>
                <a:latin typeface="Arial"/>
              </a:rPr>
              <a:t>•  Use our usual tone</a:t>
            </a:r>
          </a:p>
          <a:p>
            <a:pPr>
              <a:spcAft>
                <a:spcPts val="1000"/>
              </a:spcAft>
            </a:pPr>
            <a:r>
              <a:rPr sz="1600" b="0">
                <a:solidFill>
                  <a:srgbClr val="161B26"/>
                </a:solidFill>
                <a:latin typeface="Arial"/>
              </a:rPr>
              <a:t>•  Avoid sounding robotic</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Use warm, direct sentences of 8-18 words</a:t>
            </a:r>
          </a:p>
          <a:p>
            <a:pPr>
              <a:spcAft>
                <a:spcPts val="1000"/>
              </a:spcAft>
            </a:pPr>
            <a:r>
              <a:rPr sz="1600" b="0">
                <a:solidFill>
                  <a:srgbClr val="161B26"/>
                </a:solidFill>
                <a:latin typeface="Arial"/>
              </a:rPr>
              <a:t>•  Open with a specific customer situation</a:t>
            </a:r>
          </a:p>
          <a:p>
            <a:pPr>
              <a:spcAft>
                <a:spcPts val="1000"/>
              </a:spcAft>
            </a:pPr>
            <a:r>
              <a:rPr sz="1600" b="0">
                <a:solidFill>
                  <a:srgbClr val="161B26"/>
                </a:solidFill>
                <a:latin typeface="Arial"/>
              </a:rPr>
              <a:t>•  Use Singapore English naturally; avoid forced slang</a:t>
            </a:r>
          </a:p>
          <a:p>
            <a:pPr>
              <a:spcAft>
                <a:spcPts val="1000"/>
              </a:spcAft>
            </a:pPr>
            <a:r>
              <a:rPr sz="1600" b="0">
                <a:solidFill>
                  <a:srgbClr val="161B26"/>
                </a:solidFill>
                <a:latin typeface="Arial"/>
              </a:rPr>
              <a:t>•  One helpful detail before one invitation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COPY SYSTEM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Facebook Copy Anatomy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Specific hook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Useful value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Credible proof</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Offer detail</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Single call to action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CREATIVE CHOICE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Creative System: Image, Carousel, and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Single image</a:t>
            </a:r>
          </a:p>
          <a:p>
            <a:pPr algn="l">
              <a:spcAft>
                <a:spcPts val="300"/>
              </a:spcAft>
            </a:pPr>
            <a:r>
              <a:rPr sz="1200" b="0">
                <a:solidFill>
                  <a:srgbClr val="5B6372"/>
                </a:solidFill>
                <a:latin typeface="Arial"/>
              </a:rPr>
              <a:t>One idea, one focal point, fast recognition, strong offer or proof.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Carousel</a:t>
            </a:r>
          </a:p>
          <a:p>
            <a:pPr algn="l">
              <a:spcAft>
                <a:spcPts val="300"/>
              </a:spcAft>
            </a:pPr>
            <a:r>
              <a:rPr sz="1200" b="0">
                <a:solidFill>
                  <a:srgbClr val="5B6372"/>
                </a:solidFill>
                <a:latin typeface="Arial"/>
              </a:rPr>
              <a:t>A sequence, comparison, product range, or step-by-step story.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Short video</a:t>
            </a:r>
          </a:p>
          <a:p>
            <a:pPr algn="l">
              <a:spcAft>
                <a:spcPts val="300"/>
              </a:spcAft>
            </a:pPr>
            <a:r>
              <a:rPr sz="1200" b="0">
                <a:solidFill>
                  <a:srgbClr val="5B6372"/>
                </a:solidFill>
                <a:latin typeface="Arial"/>
              </a:rPr>
              <a:t>Motion, demonstration, personality, transformation, or process.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First frame</a:t>
            </a:r>
          </a:p>
          <a:p>
            <a:pPr algn="l">
              <a:spcAft>
                <a:spcPts val="300"/>
              </a:spcAft>
            </a:pPr>
            <a:r>
              <a:rPr sz="1200" b="0">
                <a:solidFill>
                  <a:srgbClr val="5B6372"/>
                </a:solidFill>
                <a:latin typeface="Arial"/>
              </a:rPr>
              <a:t>Make the subject and value understandable before sound or context.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Mobile clarity</a:t>
            </a:r>
          </a:p>
          <a:p>
            <a:pPr algn="l">
              <a:spcAft>
                <a:spcPts val="300"/>
              </a:spcAft>
            </a:pPr>
            <a:r>
              <a:rPr sz="1200" b="0">
                <a:solidFill>
                  <a:srgbClr val="5B6372"/>
                </a:solidFill>
                <a:latin typeface="Arial"/>
              </a:rPr>
              <a:t>Large type, high contrast, simple composition, and safe cropping.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Rights and truth</a:t>
            </a:r>
          </a:p>
          <a:p>
            <a:pPr algn="l">
              <a:spcAft>
                <a:spcPts val="300"/>
              </a:spcAft>
            </a:pPr>
            <a:r>
              <a:rPr sz="1200" b="0">
                <a:solidFill>
                  <a:srgbClr val="5B6372"/>
                </a:solidFill>
                <a:latin typeface="Arial"/>
              </a:rPr>
              <a:t>Use authorised assets; review generated details and implied claims.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BEFORE APPROVAL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Content Quality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Grounded facts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Brand fit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Audience value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Creative and rights check</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Objective and action match</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Content Creation and Ad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Seven-Day Facebook Content System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Ad Copy and Creative Matrix</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Seven-Day Facebook Content System</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use the success brief, selected audience, and prompt contract to design a seven-day Facebook calendar that balances teaching, proof, invitation, and learning. You then turn the selected Invite entry into one publication-ready control post while keeping every fact traceable.</a:t>
            </a:r>
          </a:p>
        </p:txBody>
      </p:sp>
      <p:sp>
        <p:nvSpPr>
          <p:cNvPr id="10" name="Rectangle 9"/>
          <p:cNvSpPr/>
          <p:nvPr/>
        </p:nvSpPr>
        <p:spPr>
          <a:xfrm>
            <a:off x="777240" y="3886200"/>
            <a:ext cx="10698480"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507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370832"/>
            <a:ext cx="10058400" cy="822960"/>
          </a:xfrm>
          <a:prstGeom prst="rect">
            <a:avLst/>
          </a:prstGeom>
          <a:noFill/>
        </p:spPr>
        <p:txBody>
          <a:bodyPr wrap="square" anchor="t">
            <a:spAutoFit/>
          </a:bodyPr>
          <a:lstStyle/>
          <a:p>
            <a:pPr algn="l">
              <a:spcAft>
                <a:spcPts val="400"/>
              </a:spcAft>
            </a:pPr>
            <a:r>
              <a:rPr sz="1200" b="1">
                <a:solidFill>
                  <a:srgbClr val="161B26"/>
                </a:solidFill>
                <a:latin typeface="Arial"/>
              </a:rPr>
              <a:t>C526-campaign-pack/03-content-system.md containing four content pillars, a seven-day calendar, one complete control post, a quality gate, a reviewer correction log, and retained Test Evidence.</a:t>
            </a:r>
          </a:p>
        </p:txBody>
      </p:sp>
      <p:sp>
        <p:nvSpPr>
          <p:cNvPr id="13" name="TextBox 12"/>
          <p:cNvSpPr txBox="1"/>
          <p:nvPr/>
        </p:nvSpPr>
        <p:spPr>
          <a:xfrm>
            <a:off x="1005840" y="5230368"/>
            <a:ext cx="10241280" cy="6858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generative AI assistant, text editor or spreadsheet, Lab 1 and Lab 2 files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3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four content pillars with a customer-journey job and evidence boundary.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a seven-day calendar with one learning question per item.</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Draft the selected Invite control post and review it against the contract.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Save reviewer corrections so later prompts can improve.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Trace audience to evidence, action, and a learning signal.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the Ad Copy and Creative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turn the strongest Invite message from Lab 3 into a controlled creative matrix. The lab produces three same-format hook-angle copy variants that reuse one control image, plus clearly separated carousel and short-video extension briefs, then applies a human quality gate before anything reaches an advertising account.</a:t>
            </a:r>
          </a:p>
        </p:txBody>
      </p:sp>
      <p:sp>
        <p:nvSpPr>
          <p:cNvPr id="10" name="Rectangle 9"/>
          <p:cNvSpPr/>
          <p:nvPr/>
        </p:nvSpPr>
        <p:spPr>
          <a:xfrm>
            <a:off x="777240" y="3886200"/>
            <a:ext cx="10698480"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507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370832"/>
            <a:ext cx="10058400" cy="822960"/>
          </a:xfrm>
          <a:prstGeom prst="rect">
            <a:avLst/>
          </a:prstGeom>
          <a:noFill/>
        </p:spPr>
        <p:txBody>
          <a:bodyPr wrap="square" anchor="t">
            <a:spAutoFit/>
          </a:bodyPr>
          <a:lstStyle/>
          <a:p>
            <a:pPr algn="l">
              <a:spcAft>
                <a:spcPts val="400"/>
              </a:spcAft>
            </a:pPr>
            <a:r>
              <a:rPr sz="1400" b="1">
                <a:solidFill>
                  <a:srgbClr val="161B26"/>
                </a:solidFill>
                <a:latin typeface="Arial"/>
              </a:rPr>
              <a:t>C526-campaign-pack/04-ad-copy-creative-matrix.md, one 1080 × 1080 control image, one 360-pixel phone-preview screenshot, and non-experiment carousel and short-video extension briefs.</a:t>
            </a:r>
          </a:p>
        </p:txBody>
      </p:sp>
      <p:sp>
        <p:nvSpPr>
          <p:cNvPr id="13" name="TextBox 12"/>
          <p:cNvSpPr txBox="1"/>
          <p:nvPr/>
        </p:nvSpPr>
        <p:spPr>
          <a:xfrm>
            <a:off x="1005840" y="5230368"/>
            <a:ext cx="10241280" cy="6858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generative AI assistant, approved image tool or Canva, text editor, Labs 2-3 files, labs/resources/harbour-hearth-brand-brief.md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4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Lock the offer, proof, audience, destination, and CTA as experiment controls.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three hook-angle copy variants that reuse one image and one format.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Produce the shared image and separate carousel/video extension briefs.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truth, brand, rights, mobile, and objective-action checks.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Only the hook varies; the phone-size prototype stays truthful.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Content Creation and Ad Copy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Produce a journey-aligned Facebook content calendar and post set from approved facts, audience evidence, and brand rules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LO3: Generate controlled ad-copy variants and AI-assisted creative prototypes while preserving message, brand, truth, and review evidence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Building and Optimising Ad Campaigns with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campaign hierarchy | audiences | budgets and placements | metrics | experiments | optimisation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Building and Optimising Ad Campaigns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Campaign level</a:t>
            </a:r>
          </a:p>
          <a:p>
            <a:pPr algn="l">
              <a:spcAft>
                <a:spcPts val="300"/>
              </a:spcAft>
            </a:pPr>
            <a:r>
              <a:rPr sz="1200" b="0">
                <a:solidFill>
                  <a:srgbClr val="5B6372"/>
                </a:solidFill>
                <a:latin typeface="Arial"/>
              </a:rPr>
              <a:t>The objective and overall campaign decision live here.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 set level</a:t>
            </a:r>
          </a:p>
          <a:p>
            <a:pPr algn="l">
              <a:spcAft>
                <a:spcPts val="300"/>
              </a:spcAft>
            </a:pPr>
            <a:r>
              <a:rPr sz="1200" b="0">
                <a:solidFill>
                  <a:srgbClr val="5B6372"/>
                </a:solidFill>
                <a:latin typeface="Arial"/>
              </a:rPr>
              <a:t>Audience, placements, budget, schedule, conversion location, and performance goal live here.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 level</a:t>
            </a:r>
          </a:p>
          <a:p>
            <a:pPr algn="l">
              <a:spcAft>
                <a:spcPts val="300"/>
              </a:spcAft>
            </a:pPr>
            <a:r>
              <a:rPr sz="1200" b="0">
                <a:solidFill>
                  <a:srgbClr val="5B6372"/>
                </a:solidFill>
                <a:latin typeface="Arial"/>
              </a:rPr>
              <a:t>Identity, format, media, text, headline, destination, and tracking live here.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Signal quality</a:t>
            </a:r>
          </a:p>
          <a:p>
            <a:pPr algn="l">
              <a:spcAft>
                <a:spcPts val="300"/>
              </a:spcAft>
            </a:pPr>
            <a:r>
              <a:rPr sz="1200" b="0">
                <a:solidFill>
                  <a:srgbClr val="5B6372"/>
                </a:solidFill>
                <a:latin typeface="Arial"/>
              </a:rPr>
              <a:t>Optimisation is only as useful as the event definition and data feeding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Metric tree</a:t>
            </a:r>
          </a:p>
          <a:p>
            <a:pPr algn="l">
              <a:spcAft>
                <a:spcPts val="300"/>
              </a:spcAft>
            </a:pPr>
            <a:r>
              <a:rPr sz="1200" b="0">
                <a:solidFill>
                  <a:srgbClr val="5B6372"/>
                </a:solidFill>
                <a:latin typeface="Arial"/>
              </a:rPr>
              <a:t>Delivery, attention, action, conversion, and value metrics answer different questions.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One-variable test</a:t>
            </a:r>
          </a:p>
          <a:p>
            <a:pPr algn="l">
              <a:spcAft>
                <a:spcPts val="300"/>
              </a:spcAft>
            </a:pPr>
            <a:r>
              <a:rPr sz="1200" b="0">
                <a:solidFill>
                  <a:srgbClr val="5B6372"/>
                </a:solidFill>
                <a:latin typeface="Arial"/>
              </a:rPr>
              <a:t>A controlled comparison changes one main factor and keeps the rest stable.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Building and Optimising Ad Campaigns with AI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Diagnosis before action</a:t>
            </a:r>
          </a:p>
          <a:p>
            <a:pPr algn="l">
              <a:spcAft>
                <a:spcPts val="300"/>
              </a:spcAft>
            </a:pPr>
            <a:r>
              <a:rPr sz="1200" b="0">
                <a:solidFill>
                  <a:srgbClr val="5B6372"/>
                </a:solidFill>
                <a:latin typeface="Arial"/>
              </a:rPr>
              <a:t>A weak result may come from delivery, creative, audience, offer, destination, or tracking.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Learning stability</a:t>
            </a:r>
          </a:p>
          <a:p>
            <a:pPr algn="l">
              <a:spcAft>
                <a:spcPts val="300"/>
              </a:spcAft>
            </a:pPr>
            <a:r>
              <a:rPr sz="1200" b="0">
                <a:solidFill>
                  <a:srgbClr val="5B6372"/>
                </a:solidFill>
                <a:latin typeface="Arial"/>
              </a:rPr>
              <a:t>Frequent major edits destroy comparability and interrupt the platform's learning.</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ACCOUNT STRUCTURE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Ad Set, and Ad Hierarchy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Campaign: objective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 set: delivery choices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 message and creative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Event: measured action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Report: decision evidence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SIGNAL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Objective, Event, and Optimisation Alignment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Objective</a:t>
            </a:r>
          </a:p>
          <a:p>
            <a:pPr algn="l">
              <a:spcAft>
                <a:spcPts val="300"/>
              </a:spcAft>
            </a:pPr>
            <a:r>
              <a:rPr sz="1200" b="0">
                <a:solidFill>
                  <a:srgbClr val="5B6372"/>
                </a:solidFill>
                <a:latin typeface="Arial"/>
              </a:rPr>
              <a:t>The type of result the campaign is designed to pursue.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Conversion location</a:t>
            </a:r>
          </a:p>
          <a:p>
            <a:pPr algn="l">
              <a:spcAft>
                <a:spcPts val="300"/>
              </a:spcAft>
            </a:pPr>
            <a:r>
              <a:rPr sz="1200" b="0">
                <a:solidFill>
                  <a:srgbClr val="5B6372"/>
                </a:solidFill>
                <a:latin typeface="Arial"/>
              </a:rPr>
              <a:t>Where the desired action occurs: website, app, messaging, or another supported surface.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Performance goal</a:t>
            </a:r>
          </a:p>
          <a:p>
            <a:pPr algn="l">
              <a:spcAft>
                <a:spcPts val="300"/>
              </a:spcAft>
            </a:pPr>
            <a:r>
              <a:rPr sz="1200" b="0">
                <a:solidFill>
                  <a:srgbClr val="5B6372"/>
                </a:solidFill>
                <a:latin typeface="Arial"/>
              </a:rPr>
              <a:t>The result the delivery system should seek within the objective.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Event</a:t>
            </a:r>
          </a:p>
          <a:p>
            <a:pPr algn="l">
              <a:spcAft>
                <a:spcPts val="300"/>
              </a:spcAft>
            </a:pPr>
            <a:r>
              <a:rPr sz="1200" b="0">
                <a:solidFill>
                  <a:srgbClr val="5B6372"/>
                </a:solidFill>
                <a:latin typeface="Arial"/>
              </a:rPr>
              <a:t>The observed action that represents progress or value.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quality</a:t>
            </a:r>
          </a:p>
          <a:p>
            <a:pPr algn="l">
              <a:spcAft>
                <a:spcPts val="300"/>
              </a:spcAft>
            </a:pPr>
            <a:r>
              <a:rPr sz="1200" b="0">
                <a:solidFill>
                  <a:srgbClr val="5B6372"/>
                </a:solidFill>
                <a:latin typeface="Arial"/>
              </a:rPr>
              <a:t>Accuracy, completeness, timeliness, match quality, and lawful collection.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Decision KPI</a:t>
            </a:r>
          </a:p>
          <a:p>
            <a:pPr algn="l">
              <a:spcAft>
                <a:spcPts val="300"/>
              </a:spcAft>
            </a:pPr>
            <a:r>
              <a:rPr sz="1200" b="0">
                <a:solidFill>
                  <a:srgbClr val="5B6372"/>
                </a:solidFill>
                <a:latin typeface="Arial"/>
              </a:rPr>
              <a:t>The metric and threshold used to continue, change, stop, or scale.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TARGETING LOGIC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Audience Strategy: Prospecting and Re-engagement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Prospecting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Re-engagement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Reach people who have not yet shown a direct signal</a:t>
            </a:r>
          </a:p>
          <a:p>
            <a:pPr>
              <a:spcAft>
                <a:spcPts val="1000"/>
              </a:spcAft>
            </a:pPr>
            <a:r>
              <a:rPr sz="1600" b="0">
                <a:solidFill>
                  <a:srgbClr val="161B26"/>
                </a:solidFill>
                <a:latin typeface="Arial"/>
              </a:rPr>
              <a:t>•  Use broad delivery or evidence-based suggestions</a:t>
            </a:r>
          </a:p>
          <a:p>
            <a:pPr>
              <a:spcAft>
                <a:spcPts val="1000"/>
              </a:spcAft>
            </a:pPr>
            <a:r>
              <a:rPr sz="1600" b="0">
                <a:solidFill>
                  <a:srgbClr val="161B26"/>
                </a:solidFill>
                <a:latin typeface="Arial"/>
              </a:rPr>
              <a:t>•  Teach the problem and establish relevance</a:t>
            </a:r>
          </a:p>
          <a:p>
            <a:pPr>
              <a:spcAft>
                <a:spcPts val="1000"/>
              </a:spcAft>
            </a:pPr>
            <a:r>
              <a:rPr sz="1600" b="0">
                <a:solidFill>
                  <a:srgbClr val="161B26"/>
                </a:solidFill>
                <a:latin typeface="Arial"/>
              </a:rPr>
              <a:t>•  Exclude recent purchasers when the offer makes that appropriate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Reach people with an authorised prior interaction</a:t>
            </a:r>
          </a:p>
          <a:p>
            <a:pPr>
              <a:spcAft>
                <a:spcPts val="1000"/>
              </a:spcAft>
            </a:pPr>
            <a:r>
              <a:rPr sz="1600" b="0">
                <a:solidFill>
                  <a:srgbClr val="161B26"/>
                </a:solidFill>
                <a:latin typeface="Arial"/>
              </a:rPr>
              <a:t>•  Use Page, site, video, lead, or customer-list signals where permitted</a:t>
            </a:r>
          </a:p>
          <a:p>
            <a:pPr>
              <a:spcAft>
                <a:spcPts val="1000"/>
              </a:spcAft>
            </a:pPr>
            <a:r>
              <a:rPr sz="1600" b="0">
                <a:solidFill>
                  <a:srgbClr val="161B26"/>
                </a:solidFill>
                <a:latin typeface="Arial"/>
              </a:rPr>
              <a:t>•  Resolve objections and make the next step easy</a:t>
            </a:r>
          </a:p>
          <a:p>
            <a:pPr>
              <a:spcAft>
                <a:spcPts val="1000"/>
              </a:spcAft>
            </a:pPr>
            <a:r>
              <a:rPr sz="1600" b="0">
                <a:solidFill>
                  <a:srgbClr val="161B26"/>
                </a:solidFill>
                <a:latin typeface="Arial"/>
              </a:rPr>
              <a:t>•  Control recency, frequency, exclusions, and data rights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METRICS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Facebook Performance Metric Tree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Delivery</a:t>
            </a:r>
          </a:p>
          <a:p>
            <a:pPr algn="l">
              <a:spcAft>
                <a:spcPts val="300"/>
              </a:spcAft>
            </a:pPr>
            <a:r>
              <a:rPr sz="1200" b="0">
                <a:solidFill>
                  <a:srgbClr val="5B6372"/>
                </a:solidFill>
                <a:latin typeface="Arial"/>
              </a:rPr>
              <a:t>Impressions, reach, frequency, spend, CPM = spend / impressions × 1,000.</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Attention</a:t>
            </a:r>
          </a:p>
          <a:p>
            <a:pPr algn="l">
              <a:spcAft>
                <a:spcPts val="300"/>
              </a:spcAft>
            </a:pPr>
            <a:r>
              <a:rPr sz="1200" b="0">
                <a:solidFill>
                  <a:srgbClr val="5B6372"/>
                </a:solidFill>
                <a:latin typeface="Arial"/>
              </a:rPr>
              <a:t>Link CTR = link clicks / impressions; use one click definition consistently.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Traffic cost</a:t>
            </a:r>
          </a:p>
          <a:p>
            <a:pPr algn="l">
              <a:spcAft>
                <a:spcPts val="300"/>
              </a:spcAft>
            </a:pPr>
            <a:r>
              <a:rPr sz="1200" b="0">
                <a:solidFill>
                  <a:srgbClr val="5B6372"/>
                </a:solidFill>
                <a:latin typeface="Arial"/>
              </a:rPr>
              <a:t>CPC = spend / link clicks; low cost is useful only when visits are relevant.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Conversion</a:t>
            </a:r>
          </a:p>
          <a:p>
            <a:pPr algn="l">
              <a:spcAft>
                <a:spcPts val="300"/>
              </a:spcAft>
            </a:pPr>
            <a:r>
              <a:rPr sz="1200" b="0">
                <a:solidFill>
                  <a:srgbClr val="5B6372"/>
                </a:solidFill>
                <a:latin typeface="Arial"/>
              </a:rPr>
              <a:t>Conversion rate = purchases / link clicks; CPA = spend / purchases.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Value</a:t>
            </a:r>
          </a:p>
          <a:p>
            <a:pPr algn="l">
              <a:spcAft>
                <a:spcPts val="300"/>
              </a:spcAft>
            </a:pPr>
            <a:r>
              <a:rPr sz="1200" b="0">
                <a:solidFill>
                  <a:srgbClr val="5B6372"/>
                </a:solidFill>
                <a:latin typeface="Arial"/>
              </a:rPr>
              <a:t>ROAS = attributed revenue / ad spend; interpret with margin and attribution limits.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Quality guards</a:t>
            </a:r>
          </a:p>
          <a:p>
            <a:pPr algn="l">
              <a:spcAft>
                <a:spcPts val="300"/>
              </a:spcAft>
            </a:pPr>
            <a:r>
              <a:rPr sz="1200" b="0">
                <a:solidFill>
                  <a:srgbClr val="5B6372"/>
                </a:solidFill>
                <a:latin typeface="Arial"/>
              </a:rPr>
              <a:t>Negative feedback rate = negative feedback / impressions × 100, plus operational exceptions.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EXPERIMENT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 Testing as Causal Learning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Question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One changed variable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Stable controls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Decision window and threshold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Documented learning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CONTROLLED RESPONSE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Optimisation Diagnosis Before 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data</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Locate funnel break</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Form one hypothesis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one bounded change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Observe before the next change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Building and Optimising Ad Campaigns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Facebook Campaign Blueprint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Diagnose Performance and Design One Controlled Test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Design the Facebook Campaign Blueprint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translate the campaign brief and creative matrix into a draft Meta Ads Manager blueprint without spending money. The blueprint makes every decision at campaign, ad set, and ad level visible, identifies account inputs that are still unknown, and keeps publication behind an authorised approval gate.</a:t>
            </a:r>
          </a:p>
        </p:txBody>
      </p:sp>
      <p:sp>
        <p:nvSpPr>
          <p:cNvPr id="10" name="Rectangle 9"/>
          <p:cNvSpPr/>
          <p:nvPr/>
        </p:nvSpPr>
        <p:spPr>
          <a:xfrm>
            <a:off x="777240" y="3886200"/>
            <a:ext cx="10698480"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507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370832"/>
            <a:ext cx="10058400" cy="822960"/>
          </a:xfrm>
          <a:prstGeom prst="rect">
            <a:avLst/>
          </a:prstGeom>
          <a:noFill/>
        </p:spPr>
        <p:txBody>
          <a:bodyPr wrap="square" anchor="t">
            <a:spAutoFit/>
          </a:bodyPr>
          <a:lstStyle/>
          <a:p>
            <a:pPr algn="l">
              <a:spcAft>
                <a:spcPts val="400"/>
              </a:spcAft>
            </a:pPr>
            <a:r>
              <a:rPr sz="1200" b="1">
                <a:solidFill>
                  <a:srgbClr val="161B26"/>
                </a:solidFill>
                <a:latin typeface="Arial"/>
              </a:rPr>
              <a:t>C526-campaign-pack/05-campaign-blueprint.md containing a named campaign hierarchy, delivery rationale, experiment controls, preflight checklist, and optional unsubmitted Ads Manager draft screenshots.</a:t>
            </a:r>
          </a:p>
        </p:txBody>
      </p:sp>
      <p:sp>
        <p:nvSpPr>
          <p:cNvPr id="13" name="TextBox 12"/>
          <p:cNvSpPr txBox="1"/>
          <p:nvPr/>
        </p:nvSpPr>
        <p:spPr>
          <a:xfrm>
            <a:off x="1005840" y="5230368"/>
            <a:ext cx="10241280" cy="6858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generative AI assistant, text editor, optional Meta Ads Manager draft view, Labs 1-4 outputs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5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Map the business goal to objective, conversion location, event, and decision KPI.</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Specify one active-design prospecting ad set, one parked re-engagement design, and three controlled ads.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naming, audience logic, budget, placements, schedule, and data readiness.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Record unknowns and stop at the publication approval gate.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Trace ad to KPI and explain one blocking unknown.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Diagnose Performance and Design One Controlled Test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calculate delivery, attention, conversion, and value metrics from a synthetic Facebook result table, then use an AI analyst under the prompt contract to diagnose the pattern. The lab finishes with one controlled next test rather than a bundle of untraceable changes.</a:t>
            </a:r>
          </a:p>
        </p:txBody>
      </p:sp>
      <p:sp>
        <p:nvSpPr>
          <p:cNvPr id="10" name="Rectangle 9"/>
          <p:cNvSpPr/>
          <p:nvPr/>
        </p:nvSpPr>
        <p:spPr>
          <a:xfrm>
            <a:off x="777240" y="3886200"/>
            <a:ext cx="10698480"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507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370832"/>
            <a:ext cx="10058400" cy="822960"/>
          </a:xfrm>
          <a:prstGeom prst="rect">
            <a:avLst/>
          </a:prstGeom>
          <a:noFill/>
        </p:spPr>
        <p:txBody>
          <a:bodyPr wrap="square" anchor="t">
            <a:spAutoFit/>
          </a:bodyPr>
          <a:lstStyle/>
          <a:p>
            <a:pPr algn="l">
              <a:spcAft>
                <a:spcPts val="400"/>
              </a:spcAft>
            </a:pPr>
            <a:r>
              <a:rPr sz="1200" b="1">
                <a:solidFill>
                  <a:srgbClr val="161B26"/>
                </a:solidFill>
                <a:latin typeface="Arial"/>
              </a:rPr>
              <a:t>C526-campaign-pack/06-performance-diagnosis.md plus 06-facebook-metrics.xlsx with date window, CTR, CPC, conversion rate, CPA, ROAS, negative feedback rate, evidence-linked findings, and one experiment card.</a:t>
            </a:r>
          </a:p>
        </p:txBody>
      </p:sp>
      <p:sp>
        <p:nvSpPr>
          <p:cNvPr id="13" name="TextBox 12"/>
          <p:cNvSpPr txBox="1"/>
          <p:nvPr/>
        </p:nvSpPr>
        <p:spPr>
          <a:xfrm>
            <a:off x="1005840" y="5230368"/>
            <a:ext cx="10241280" cy="6858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Spreadsheet application, approved generative AI assistant, labs/resources/harbour-hearth-facebook-performance.csv, Lab 5 blueprint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6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the dataset and calculate the metric tree with explicit formulas.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Compare variants and locate the break between delivery, attention, and conversion.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Ask the agent for evidence-linked findings, assumptions, and uncertainty.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one experiment card with stable controls and a decision rule.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Recalculate one row; change one variable; name one stop rule.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Building and Optimising Ad Campaigns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LO4: Design an aligned campaign, ad set, and ad structure with explicit audience, budget, placement, signal, and experiment rationale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LO5: Calculate Facebook metrics, locate a funnel break, distinguish evidence from inference, and recommend one bounded experiment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Automating and Scaling Facebook Marketing with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workflow design | scheduling and responses | reporting | bounded optimisation | scaling | privacy and advertising safeguards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Automating and Scaling Facebook Marketing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Automate repetition</a:t>
            </a:r>
          </a:p>
          <a:p>
            <a:pPr algn="l">
              <a:spcAft>
                <a:spcPts val="300"/>
              </a:spcAft>
            </a:pPr>
            <a:r>
              <a:rPr sz="1200" b="0">
                <a:solidFill>
                  <a:srgbClr val="5B6372"/>
                </a:solidFill>
                <a:latin typeface="Arial"/>
              </a:rPr>
              <a:t>Use rules for stable steps; reserve agent reasoning for contextual choices.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Draft before action</a:t>
            </a:r>
          </a:p>
          <a:p>
            <a:pPr algn="l">
              <a:spcAft>
                <a:spcPts val="300"/>
              </a:spcAft>
            </a:pPr>
            <a:r>
              <a:rPr sz="1200" b="0">
                <a:solidFill>
                  <a:srgbClr val="5B6372"/>
                </a:solidFill>
                <a:latin typeface="Arial"/>
              </a:rPr>
              <a:t>Early workflows prepare and recommend while a person approves publication or spend.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Risk-tier tools</a:t>
            </a:r>
          </a:p>
          <a:p>
            <a:pPr algn="l">
              <a:spcAft>
                <a:spcPts val="300"/>
              </a:spcAft>
            </a:pPr>
            <a:r>
              <a:rPr sz="1200" b="0">
                <a:solidFill>
                  <a:srgbClr val="5B6372"/>
                </a:solidFill>
                <a:latin typeface="Arial"/>
              </a:rPr>
              <a:t>Reading data is lower risk than publishing, editing budgets, or messaging a customer.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Stop conditions</a:t>
            </a:r>
          </a:p>
          <a:p>
            <a:pPr algn="l">
              <a:spcAft>
                <a:spcPts val="300"/>
              </a:spcAft>
            </a:pPr>
            <a:r>
              <a:rPr sz="1200" b="0">
                <a:solidFill>
                  <a:srgbClr val="5B6372"/>
                </a:solidFill>
                <a:latin typeface="Arial"/>
              </a:rPr>
              <a:t>Every loop needs limits for retries, spend, time, confidence, and policy uncertainty.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Response triage</a:t>
            </a:r>
          </a:p>
          <a:p>
            <a:pPr algn="l">
              <a:spcAft>
                <a:spcPts val="300"/>
              </a:spcAft>
            </a:pPr>
            <a:r>
              <a:rPr sz="1200" b="0">
                <a:solidFill>
                  <a:srgbClr val="5B6372"/>
                </a:solidFill>
                <a:latin typeface="Arial"/>
              </a:rPr>
              <a:t>Routine questions may use approved answers; complaints, safety, and personal data escalate.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Evidence-linked reports</a:t>
            </a:r>
          </a:p>
          <a:p>
            <a:pPr algn="l">
              <a:spcAft>
                <a:spcPts val="300"/>
              </a:spcAft>
            </a:pPr>
            <a:r>
              <a:rPr sz="1200" b="0">
                <a:solidFill>
                  <a:srgbClr val="5B6372"/>
                </a:solidFill>
                <a:latin typeface="Arial"/>
              </a:rPr>
              <a:t>Each insight names the metric, comparison, date window, and supporting row.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Automating and Scaling Facebook Marketing with AI Agents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Scale by proof</a:t>
            </a:r>
          </a:p>
          <a:p>
            <a:pPr algn="l">
              <a:spcAft>
                <a:spcPts val="300"/>
              </a:spcAft>
            </a:pPr>
            <a:r>
              <a:rPr sz="1200" b="0">
                <a:solidFill>
                  <a:srgbClr val="5B6372"/>
                </a:solidFill>
                <a:latin typeface="Arial"/>
              </a:rPr>
              <a:t>Increase exposure only when results, operations, and customer experience remain healthy.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Reversible actions</a:t>
            </a:r>
          </a:p>
          <a:p>
            <a:pPr algn="l">
              <a:spcAft>
                <a:spcPts val="300"/>
              </a:spcAft>
            </a:pPr>
            <a:r>
              <a:rPr sz="1200" b="0">
                <a:solidFill>
                  <a:srgbClr val="5B6372"/>
                </a:solidFill>
                <a:latin typeface="Arial"/>
              </a:rPr>
              <a:t>Prefer drafts, small changes, cooldowns, logs, and rollback paths.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AUTOMATION FIT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Should This Task Be Automated?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Repeatable trigger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Reliable input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Clear rule or judgement boundary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Verifiable output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Safe failure path</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OPERATING MODEL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Governed Agentic Operating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Observe authorised inputs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Plan within policy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draft or recommendation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and approve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Act, log, and monitor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BUSINESS SUITE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Facebook Operations You Can Coordinate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Planning</a:t>
            </a:r>
          </a:p>
          <a:p>
            <a:pPr algn="l">
              <a:spcAft>
                <a:spcPts val="300"/>
              </a:spcAft>
            </a:pPr>
            <a:r>
              <a:rPr sz="1200" b="0">
                <a:solidFill>
                  <a:srgbClr val="5B6372"/>
                </a:solidFill>
                <a:latin typeface="Arial"/>
              </a:rPr>
              <a:t>Turn approved strategy into a dated calendar with owners and dependencies.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Scheduling</a:t>
            </a:r>
          </a:p>
          <a:p>
            <a:pPr algn="l">
              <a:spcAft>
                <a:spcPts val="300"/>
              </a:spcAft>
            </a:pPr>
            <a:r>
              <a:rPr sz="1200" b="0">
                <a:solidFill>
                  <a:srgbClr val="5B6372"/>
                </a:solidFill>
                <a:latin typeface="Arial"/>
              </a:rPr>
              <a:t>Prepare or schedule approved Page posts in Meta Business Suite.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Inbox</a:t>
            </a:r>
          </a:p>
          <a:p>
            <a:pPr algn="l">
              <a:spcAft>
                <a:spcPts val="300"/>
              </a:spcAft>
            </a:pPr>
            <a:r>
              <a:rPr sz="1200" b="0">
                <a:solidFill>
                  <a:srgbClr val="5B6372"/>
                </a:solidFill>
                <a:latin typeface="Arial"/>
              </a:rPr>
              <a:t>Classify messages and comments, then draft from an approved response bank.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Automations</a:t>
            </a:r>
          </a:p>
          <a:p>
            <a:pPr algn="l">
              <a:spcAft>
                <a:spcPts val="300"/>
              </a:spcAft>
            </a:pPr>
            <a:r>
              <a:rPr sz="1200" b="0">
                <a:solidFill>
                  <a:srgbClr val="5B6372"/>
                </a:solidFill>
                <a:latin typeface="Arial"/>
              </a:rPr>
              <a:t>Use greetings, away messages, instant replies, or keywords for bounded routine cases.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Insights</a:t>
            </a:r>
          </a:p>
          <a:p>
            <a:pPr algn="l">
              <a:spcAft>
                <a:spcPts val="300"/>
              </a:spcAft>
            </a:pPr>
            <a:r>
              <a:rPr sz="1200" b="0">
                <a:solidFill>
                  <a:srgbClr val="5B6372"/>
                </a:solidFill>
                <a:latin typeface="Arial"/>
              </a:rPr>
              <a:t>Collect reach, engagement, and post-level evidence for a consistent date window.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Reporting</a:t>
            </a:r>
          </a:p>
          <a:p>
            <a:pPr algn="l">
              <a:spcAft>
                <a:spcPts val="300"/>
              </a:spcAft>
            </a:pPr>
            <a:r>
              <a:rPr sz="1200" b="0">
                <a:solidFill>
                  <a:srgbClr val="5B6372"/>
                </a:solidFill>
                <a:latin typeface="Arial"/>
              </a:rPr>
              <a:t>Summarise movements, causes, limitations, and the next controlled experiment.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CONTROL LIMITS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Bounded Optimisation Policy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Minimum data volume and clean tracking before any recommendation.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Allowed action</a:t>
            </a:r>
          </a:p>
          <a:p>
            <a:pPr algn="l">
              <a:spcAft>
                <a:spcPts val="300"/>
              </a:spcAft>
            </a:pPr>
            <a:r>
              <a:rPr sz="1200" b="0">
                <a:solidFill>
                  <a:srgbClr val="5B6372"/>
                </a:solidFill>
                <a:latin typeface="Arial"/>
              </a:rPr>
              <a:t>Exactly what may change: pause, draft a variant, or propose a budget adjustment.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Magnitude</a:t>
            </a:r>
          </a:p>
          <a:p>
            <a:pPr algn="l">
              <a:spcAft>
                <a:spcPts val="300"/>
              </a:spcAft>
            </a:pPr>
            <a:r>
              <a:rPr sz="1200" b="0">
                <a:solidFill>
                  <a:srgbClr val="5B6372"/>
                </a:solidFill>
                <a:latin typeface="Arial"/>
              </a:rPr>
              <a:t>Maximum percentage or absolute change in one decision cycle.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Cooldown</a:t>
            </a:r>
          </a:p>
          <a:p>
            <a:pPr algn="l">
              <a:spcAft>
                <a:spcPts val="300"/>
              </a:spcAft>
            </a:pPr>
            <a:r>
              <a:rPr sz="1200" b="0">
                <a:solidFill>
                  <a:srgbClr val="5B6372"/>
                </a:solidFill>
                <a:latin typeface="Arial"/>
              </a:rPr>
              <a:t>Minimum observation time before another material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Stop rule</a:t>
            </a:r>
          </a:p>
          <a:p>
            <a:pPr algn="l">
              <a:spcAft>
                <a:spcPts val="300"/>
              </a:spcAft>
            </a:pPr>
            <a:r>
              <a:rPr sz="1200" b="0">
                <a:solidFill>
                  <a:srgbClr val="5B6372"/>
                </a:solidFill>
                <a:latin typeface="Arial"/>
              </a:rPr>
              <a:t>Spend, CPA, tracking, negative-feedback, capacity, or policy condition that halts the loop.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 and log</a:t>
            </a:r>
          </a:p>
          <a:p>
            <a:pPr algn="l">
              <a:spcAft>
                <a:spcPts val="300"/>
              </a:spcAft>
            </a:pPr>
            <a:r>
              <a:rPr sz="1200" b="0">
                <a:solidFill>
                  <a:srgbClr val="5B6372"/>
                </a:solidFill>
                <a:latin typeface="Arial"/>
              </a:rPr>
              <a:t>Named approver plus before/after values, reason, and rollback instruction.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SCALING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Scale Through a Learning Ladder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Validate signal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Repeat the result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Stabilise operations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Increase exposure gradually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Expand one dimension at a time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RESPONSIBLE OPERATION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Privacy, Advertising, and Incident Safeguards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Purpose and consent</a:t>
            </a:r>
          </a:p>
          <a:p>
            <a:pPr algn="l">
              <a:spcAft>
                <a:spcPts val="300"/>
              </a:spcAft>
            </a:pPr>
            <a:r>
              <a:rPr sz="1200" b="0">
                <a:solidFill>
                  <a:srgbClr val="5B6372"/>
                </a:solidFill>
                <a:latin typeface="Arial"/>
              </a:rPr>
              <a:t>Use personal data only for an appropriate notified purpose with a valid basis.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minimisation</a:t>
            </a:r>
          </a:p>
          <a:p>
            <a:pPr algn="l">
              <a:spcAft>
                <a:spcPts val="300"/>
              </a:spcAft>
            </a:pPr>
            <a:r>
              <a:rPr sz="1200" b="0">
                <a:solidFill>
                  <a:srgbClr val="5B6372"/>
                </a:solidFill>
                <a:latin typeface="Arial"/>
              </a:rPr>
              <a:t>Give the agent only the fields needed; use synthetic or aggregated data for practice.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Truthful advertising</a:t>
            </a:r>
          </a:p>
          <a:p>
            <a:pPr algn="l">
              <a:spcAft>
                <a:spcPts val="300"/>
              </a:spcAft>
            </a:pPr>
            <a:r>
              <a:rPr sz="1200" b="0">
                <a:solidFill>
                  <a:srgbClr val="5B6372"/>
                </a:solidFill>
                <a:latin typeface="Arial"/>
              </a:rPr>
              <a:t>Substantiate claims and ensure creative and destination tell the same story.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Fair treatment</a:t>
            </a:r>
          </a:p>
          <a:p>
            <a:pPr algn="l">
              <a:spcAft>
                <a:spcPts val="300"/>
              </a:spcAft>
            </a:pPr>
            <a:r>
              <a:rPr sz="1200" b="0">
                <a:solidFill>
                  <a:srgbClr val="5B6372"/>
                </a:solidFill>
                <a:latin typeface="Arial"/>
              </a:rPr>
              <a:t>Avoid discriminatory assumptions, sensitive inference, manipulation, or exclusion without justification.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Access and security</a:t>
            </a:r>
          </a:p>
          <a:p>
            <a:pPr algn="l">
              <a:spcAft>
                <a:spcPts val="300"/>
              </a:spcAft>
            </a:pPr>
            <a:r>
              <a:rPr sz="1200" b="0">
                <a:solidFill>
                  <a:srgbClr val="5B6372"/>
                </a:solidFill>
                <a:latin typeface="Arial"/>
              </a:rPr>
              <a:t>Use least privilege, approved tools, protected secrets, and retention limits.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Incident response</a:t>
            </a:r>
          </a:p>
          <a:p>
            <a:pPr algn="l">
              <a:spcAft>
                <a:spcPts val="300"/>
              </a:spcAft>
            </a:pPr>
            <a:r>
              <a:rPr sz="1200" b="0">
                <a:solidFill>
                  <a:srgbClr val="5B6372"/>
                </a:solidFill>
                <a:latin typeface="Arial"/>
              </a:rPr>
              <a:t>Pause, preserve logs, contain harm, notify the owner, correct the output, and learn.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Automating and Scaling Facebook Marketing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Facebook Operations Agent Runbook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Simulate a Bounded Optimisation and Scale Loop</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the Facebook Operations Agent Runbook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design a draft-first operations workflow that coordinates approved Facebook content, Meta Business Suite surfaces, routine Inbox responses, and a weekly report. You then simulate message triage on synthetic scenarios so routine questions and human-escalation cases follow different paths.</a:t>
            </a:r>
          </a:p>
        </p:txBody>
      </p:sp>
      <p:sp>
        <p:nvSpPr>
          <p:cNvPr id="10" name="Rectangle 9"/>
          <p:cNvSpPr/>
          <p:nvPr/>
        </p:nvSpPr>
        <p:spPr>
          <a:xfrm>
            <a:off x="777240" y="3886200"/>
            <a:ext cx="10698480"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507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370832"/>
            <a:ext cx="10058400" cy="822960"/>
          </a:xfrm>
          <a:prstGeom prst="rect">
            <a:avLst/>
          </a:prstGeom>
          <a:noFill/>
        </p:spPr>
        <p:txBody>
          <a:bodyPr wrap="square" anchor="t">
            <a:spAutoFit/>
          </a:bodyPr>
          <a:lstStyle/>
          <a:p>
            <a:pPr algn="l">
              <a:spcAft>
                <a:spcPts val="400"/>
              </a:spcAft>
            </a:pPr>
            <a:r>
              <a:rPr sz="1200" b="1">
                <a:solidFill>
                  <a:srgbClr val="161B26"/>
                </a:solidFill>
                <a:latin typeface="Arial"/>
              </a:rPr>
              <a:t>C526-campaign-pack/07-operations-agent-runbook.md containing the workflow map, permission table, response bank, triage results, scheduling checklist, weekly report schema, and retained Test Evidence.</a:t>
            </a:r>
          </a:p>
        </p:txBody>
      </p:sp>
      <p:sp>
        <p:nvSpPr>
          <p:cNvPr id="13" name="TextBox 12"/>
          <p:cNvSpPr txBox="1"/>
          <p:nvPr/>
        </p:nvSpPr>
        <p:spPr>
          <a:xfrm>
            <a:off x="1005840" y="5230368"/>
            <a:ext cx="10241280" cy="6858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generative AI assistant, text editor or spreadsheet, brand brief, message scenarios, runbook template, optional Meta Business Suite view</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7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Map triggers, inputs, tools, outputs, checks, approvals, logs, and stop paths.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Separate low-risk drafting from high-impact publishing, messaging, and spend actions.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an approved routine-response bank and simulate message triage.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Connect calendar status and metric evidence to one weekly report schema.</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one routine case, one escalation, and every human owner.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Simulate a Bounded Optimisation and Scale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complete the course by converting all prior guardrails into a bounded optimisation policy, then run synthetic scenarios through an agent that may recommend but cannot execute. The final campaign operations pack shows when to hold, pause, investigate, or propose a small scale step and records the evidence behind each decision.</a:t>
            </a:r>
          </a:p>
        </p:txBody>
      </p:sp>
      <p:sp>
        <p:nvSpPr>
          <p:cNvPr id="10" name="Rectangle 9"/>
          <p:cNvSpPr/>
          <p:nvPr/>
        </p:nvSpPr>
        <p:spPr>
          <a:xfrm>
            <a:off x="777240" y="3886200"/>
            <a:ext cx="10698480"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507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370832"/>
            <a:ext cx="10058400" cy="822960"/>
          </a:xfrm>
          <a:prstGeom prst="rect">
            <a:avLst/>
          </a:prstGeom>
          <a:noFill/>
        </p:spPr>
        <p:txBody>
          <a:bodyPr wrap="square" anchor="t">
            <a:spAutoFit/>
          </a:bodyPr>
          <a:lstStyle/>
          <a:p>
            <a:pPr algn="l">
              <a:spcAft>
                <a:spcPts val="400"/>
              </a:spcAft>
            </a:pPr>
            <a:r>
              <a:rPr sz="1400" b="1">
                <a:solidFill>
                  <a:srgbClr val="161B26"/>
                </a:solidFill>
                <a:latin typeface="Arial"/>
              </a:rPr>
              <a:t>C526-campaign-pack/08-bounded-scale-policy.md plus a final manifest linking all eight campaign-pack checkpoints, owners, approvals, stop conditions, and rollback evidence.</a:t>
            </a:r>
          </a:p>
        </p:txBody>
      </p:sp>
      <p:sp>
        <p:nvSpPr>
          <p:cNvPr id="13" name="TextBox 12"/>
          <p:cNvSpPr txBox="1"/>
          <p:nvPr/>
        </p:nvSpPr>
        <p:spPr>
          <a:xfrm>
            <a:off x="1005840" y="5230368"/>
            <a:ext cx="10241280" cy="6858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Approved generative AI assistant, spreadsheet or text editor, scale scenarios, bounded-policy template, Labs 1-7 outputs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PRACTICE ROUTE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Lab 8 — Key Route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eligibility, allowed actions, change caps, cooldowns, stop rules, and owners.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synthetic scenarios through a recommendation-only agent.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 that tracking, customer impact, capacity, and policy risks override performance gains.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the final campaign-pack manifest and 30-day pilot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Tracking errors block scale; changes stay within 15% and 72 hours.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Automating and Scaling Facebook Marketing with AI Agents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LO6: Design a governed workflow for content scheduling, routine responses, escalation, and evidence-linked reporting</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LO6 and LO5: Apply performance, operational, privacy, and customer-impact limits to a human-governed scaling decision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Marketing System</a:t>
            </a:r>
          </a:p>
          <a:p>
            <a:pPr algn="l">
              <a:spcAft>
                <a:spcPts val="300"/>
              </a:spcAft>
            </a:pPr>
            <a:r>
              <a:rPr sz="1300" b="0">
                <a:solidFill>
                  <a:srgbClr val="5B6372"/>
                </a:solidFill>
                <a:latin typeface="Arial"/>
              </a:rPr>
              <a:t>Explain how Facebook organic marketing, paid media, and an agentic AI workflow connect to a measurable business objective.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Contract</a:t>
            </a:r>
          </a:p>
          <a:p>
            <a:pPr algn="l">
              <a:spcAft>
                <a:spcPts val="300"/>
              </a:spcAft>
            </a:pPr>
            <a:r>
              <a:rPr sz="1300" b="0">
                <a:solidFill>
                  <a:srgbClr val="5B6372"/>
                </a:solidFill>
                <a:latin typeface="Arial"/>
              </a:rPr>
              <a:t>Create a reusable campaign brief and prompt contract that defines audience evidence, brand voice, tools, guardrails, and approval gates.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System</a:t>
            </a:r>
          </a:p>
          <a:p>
            <a:pPr algn="l">
              <a:spcAft>
                <a:spcPts val="300"/>
              </a:spcAft>
            </a:pPr>
            <a:r>
              <a:rPr sz="1300" b="0">
                <a:solidFill>
                  <a:srgbClr val="5B6372"/>
                </a:solidFill>
                <a:latin typeface="Arial"/>
              </a:rPr>
              <a:t>Produce an aligned Facebook content calendar, post set, ad-copy matrix, and creative briefs with consistent brand voice.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Campaign Design</a:t>
            </a:r>
          </a:p>
          <a:p>
            <a:pPr algn="l">
              <a:spcAft>
                <a:spcPts val="300"/>
              </a:spcAft>
            </a:pPr>
            <a:r>
              <a:rPr sz="1300" b="0">
                <a:solidFill>
                  <a:srgbClr val="5B6372"/>
                </a:solidFill>
                <a:latin typeface="Arial"/>
              </a:rPr>
              <a:t>Design a Facebook campaign blueprint across campaign, ad set, and ad levels, including audience, budget, placement, and experiment choices.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Performance Learning</a:t>
            </a:r>
          </a:p>
          <a:p>
            <a:pPr algn="l">
              <a:spcAft>
                <a:spcPts val="300"/>
              </a:spcAft>
            </a:pPr>
            <a:r>
              <a:rPr sz="1300" b="0">
                <a:solidFill>
                  <a:srgbClr val="5B6372"/>
                </a:solidFill>
                <a:latin typeface="Arial"/>
              </a:rPr>
              <a:t>Calculate and interpret Facebook performance metrics, diagnose a result, and recommend a controlled next action from evidence.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Governed Automation</a:t>
            </a:r>
          </a:p>
          <a:p>
            <a:pPr algn="l">
              <a:spcAft>
                <a:spcPts val="300"/>
              </a:spcAft>
            </a:pPr>
            <a:r>
              <a:rPr sz="1300" b="0">
                <a:solidFill>
                  <a:srgbClr val="5B6372"/>
                </a:solidFill>
                <a:latin typeface="Arial"/>
              </a:rPr>
              <a:t>Design a governed agentic workflow for scheduling, responses, reporting, optimisation, and scaling with privacy and advertising safeguards.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Put the Workflow into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Choose one authorised Facebook offer and rebuild the campaign pack in draft mode.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Measure reviewer corrections and turn repeated failures into clearer rules or examples.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Pilot one low-risk automation with an owner, stop rule, log, and rollback path.</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Review performance and customer-impact guardrails before increasing autonomy or spend.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C526 · KEEP BUILDING, CHECKING, AND LEARNING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coordinate Facebook strategy, content, campaigns, performance learning, and automation as one evidence-led, human-governed system.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Facebook Marketing (C526)  ·  C526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